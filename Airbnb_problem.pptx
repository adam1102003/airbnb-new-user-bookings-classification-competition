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odec Pro Bold" charset="1" panose="00000600000000000000"/>
      <p:regular r:id="rId22"/>
    </p:embeddedFont>
    <p:embeddedFont>
      <p:font typeface="Codec Pro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7C98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0240" y="1475132"/>
            <a:ext cx="13893328" cy="10063690"/>
            <a:chOff x="0" y="0"/>
            <a:chExt cx="18524437" cy="1341825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47625"/>
              <a:ext cx="18524437" cy="8036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583"/>
                </a:lnSpc>
              </a:pPr>
              <a:r>
                <a:rPr lang="en-US" sz="10530" b="true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Predicting the Airbnb Booking Journey</a:t>
              </a:r>
            </a:p>
            <a:p>
              <a:pPr algn="l">
                <a:lnSpc>
                  <a:spcPts val="11583"/>
                </a:lnSpc>
              </a:pPr>
            </a:p>
            <a:p>
              <a:pPr algn="l">
                <a:lnSpc>
                  <a:spcPts val="11583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628137"/>
              <a:ext cx="16993335" cy="790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47"/>
                </a:lnSpc>
              </a:pPr>
            </a:p>
          </p:txBody>
        </p:sp>
      </p:grpSp>
      <p:sp>
        <p:nvSpPr>
          <p:cNvPr name="AutoShape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852846" y="0"/>
            <a:ext cx="0" cy="1028700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0" y="-73092"/>
            <a:ext cx="18288000" cy="5177378"/>
          </a:xfrm>
          <a:prstGeom prst="rect">
            <a:avLst/>
          </a:prstGeom>
          <a:solidFill>
            <a:srgbClr val="7C987C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2550375"/>
            <a:ext cx="8115300" cy="151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Agenda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3389" y="5755326"/>
            <a:ext cx="7126552" cy="68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2821" indent="-396411" lvl="1">
              <a:lnSpc>
                <a:spcPts val="5141"/>
              </a:lnSpc>
              <a:buFont typeface="Arial"/>
              <a:buChar char="•"/>
            </a:pPr>
            <a:r>
              <a:rPr lang="en-US" b="true" sz="3672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3389" y="8857262"/>
            <a:ext cx="7126552" cy="67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2822" indent="-396411" lvl="1">
              <a:lnSpc>
                <a:spcPts val="5141"/>
              </a:lnSpc>
              <a:buFont typeface="Arial"/>
              <a:buChar char="•"/>
            </a:pPr>
            <a:r>
              <a:rPr lang="en-US" b="true" sz="3672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EDA &amp; Key Findings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3389" y="6826809"/>
            <a:ext cx="7126552" cy="68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2821" indent="-396411" lvl="1">
              <a:lnSpc>
                <a:spcPts val="5141"/>
              </a:lnSpc>
              <a:buFont typeface="Arial"/>
              <a:buChar char="•"/>
            </a:pPr>
            <a:r>
              <a:rPr lang="en-US" b="true" sz="3672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16528" y="8921078"/>
            <a:ext cx="7126552" cy="68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2821" indent="-396411" lvl="1">
              <a:lnSpc>
                <a:spcPts val="5141"/>
              </a:lnSpc>
              <a:buFont typeface="Arial"/>
              <a:buChar char="•"/>
            </a:pPr>
            <a:r>
              <a:rPr lang="en-US" b="true" sz="3672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Business Insights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16528" y="7898855"/>
            <a:ext cx="7126552" cy="68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2821" indent="-396411" lvl="1">
              <a:lnSpc>
                <a:spcPts val="5141"/>
              </a:lnSpc>
              <a:buFont typeface="Arial"/>
              <a:buChar char="•"/>
            </a:pPr>
            <a:r>
              <a:rPr lang="en-US" b="true" sz="3672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Evaluation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16528" y="6923130"/>
            <a:ext cx="7126552" cy="68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2821" indent="-396411" lvl="1">
              <a:lnSpc>
                <a:spcPts val="5141"/>
              </a:lnSpc>
              <a:buFont typeface="Arial"/>
              <a:buChar char="•"/>
            </a:pPr>
            <a:r>
              <a:rPr lang="en-US" b="true" sz="3672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Modeling 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22487" y="5618142"/>
            <a:ext cx="8896889" cy="133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2821" indent="-396411" lvl="1">
              <a:lnSpc>
                <a:spcPts val="5141"/>
              </a:lnSpc>
              <a:buFont typeface="Arial"/>
              <a:buChar char="•"/>
            </a:pPr>
            <a:r>
              <a:rPr lang="en-US" b="true" sz="3672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Preparation &amp; Feature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3389" y="7898855"/>
            <a:ext cx="7126552" cy="67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2822" indent="-396411" lvl="1">
              <a:lnSpc>
                <a:spcPts val="5141"/>
              </a:lnSpc>
              <a:buFont typeface="Arial"/>
              <a:buChar char="•"/>
            </a:pPr>
            <a:r>
              <a:rPr lang="en-US" b="true" sz="3672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Pre-Cleaning EDA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14635787" y="0"/>
            <a:ext cx="3652213" cy="10287000"/>
          </a:xfrm>
          <a:prstGeom prst="rect">
            <a:avLst/>
          </a:prstGeom>
          <a:solidFill>
            <a:srgbClr val="7C987C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563250" y="-142875"/>
            <a:ext cx="11355873" cy="152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3250" y="1649957"/>
            <a:ext cx="13598193" cy="172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b="true" sz="476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Goal</a:t>
            </a:r>
            <a:r>
              <a:rPr lang="en-US" b="true" sz="476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476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: </a:t>
            </a:r>
            <a:r>
              <a:rPr lang="en-US" sz="476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Airbnb wants to predict the first booking destination of new users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8204" y="4100513"/>
            <a:ext cx="13793239" cy="241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1"/>
              </a:lnSpc>
            </a:pPr>
            <a:r>
              <a:rPr lang="en-US" sz="51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Why it matters: </a:t>
            </a:r>
            <a:r>
              <a:rPr lang="en-US" sz="510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Predicting the trip early helps the marketing team show the right ads to the right user.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14440494" y="0"/>
            <a:ext cx="3847506" cy="10287000"/>
          </a:xfrm>
          <a:prstGeom prst="rect">
            <a:avLst/>
          </a:prstGeom>
          <a:solidFill>
            <a:srgbClr val="7C987C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563250" y="196215"/>
            <a:ext cx="11355873" cy="152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3250" y="1642110"/>
            <a:ext cx="11355873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Information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960736"/>
            <a:ext cx="17625031" cy="4241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430" indent="-365715" lvl="1">
              <a:lnSpc>
                <a:spcPts val="4742"/>
              </a:lnSpc>
              <a:buFont typeface="Arial"/>
              <a:buChar char="•"/>
            </a:pPr>
            <a:r>
              <a:rPr lang="en-US" b="true" sz="3387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1. Train_users.csv </a:t>
            </a:r>
            <a:r>
              <a:rPr lang="en-US" b="true" sz="3387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: </a:t>
            </a:r>
            <a:r>
              <a:rPr lang="en-US" sz="338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213,000 past users</a:t>
            </a:r>
            <a:r>
              <a:rPr lang="en-US" b="true" sz="3387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</a:p>
          <a:p>
            <a:pPr algn="l" marL="731430" indent="-365715" lvl="1">
              <a:lnSpc>
                <a:spcPts val="4742"/>
              </a:lnSpc>
              <a:buFont typeface="Arial"/>
              <a:buChar char="•"/>
            </a:pPr>
            <a:r>
              <a:rPr lang="en-US" b="true" sz="3387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2. test_users.csv : </a:t>
            </a:r>
            <a:r>
              <a:rPr lang="en-US" sz="338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62,000 new users</a:t>
            </a:r>
            <a:r>
              <a:rPr lang="en-US" b="true" sz="3387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</a:p>
          <a:p>
            <a:pPr algn="l" marL="731430" indent="-365715" lvl="1">
              <a:lnSpc>
                <a:spcPts val="4742"/>
              </a:lnSpc>
              <a:buFont typeface="Arial"/>
              <a:buChar char="•"/>
            </a:pPr>
            <a:r>
              <a:rPr lang="en-US" b="true" sz="3387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3. sessions.csv : </a:t>
            </a:r>
            <a:r>
              <a:rPr lang="en-US" sz="338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Over 10 million rows of web clicks.  </a:t>
            </a:r>
          </a:p>
          <a:p>
            <a:pPr algn="l">
              <a:lnSpc>
                <a:spcPts val="4742"/>
              </a:lnSpc>
            </a:pPr>
            <a:r>
              <a:rPr lang="en-US" sz="338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(Note → Big data approach)</a:t>
            </a:r>
          </a:p>
          <a:p>
            <a:pPr algn="l" marL="731430" indent="-365715" lvl="1">
              <a:lnSpc>
                <a:spcPts val="4742"/>
              </a:lnSpc>
              <a:buFont typeface="Arial"/>
              <a:buChar char="•"/>
            </a:pPr>
            <a:r>
              <a:rPr lang="en-US" b="true" sz="3387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4. countries.csv : </a:t>
            </a:r>
            <a:r>
              <a:rPr lang="en-US" sz="338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Details about the countries </a:t>
            </a:r>
          </a:p>
          <a:p>
            <a:pPr algn="l" marL="731430" indent="-365715" lvl="1">
              <a:lnSpc>
                <a:spcPts val="4742"/>
              </a:lnSpc>
              <a:buFont typeface="Arial"/>
              <a:buChar char="•"/>
            </a:pPr>
            <a:r>
              <a:rPr lang="en-US" b="true" sz="3387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5. age_gender.csv : </a:t>
            </a:r>
            <a:r>
              <a:rPr lang="en-US" sz="338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Details about people in those countries.</a:t>
            </a:r>
          </a:p>
          <a:p>
            <a:pPr algn="l">
              <a:lnSpc>
                <a:spcPts val="474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3250" y="196215"/>
            <a:ext cx="11355873" cy="152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3250" y="1651635"/>
            <a:ext cx="11355873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Challenges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213455" y="2261235"/>
            <a:ext cx="12909284" cy="804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4374" indent="-387187" lvl="1">
              <a:lnSpc>
                <a:spcPts val="5021"/>
              </a:lnSpc>
              <a:buFont typeface="Arial"/>
              <a:buChar char="•"/>
            </a:pPr>
            <a:r>
              <a:rPr lang="en-US" b="true" sz="358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1. Unbalanced Target Data</a:t>
            </a:r>
            <a:r>
              <a:rPr lang="en-US" b="true" sz="358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:</a:t>
            </a:r>
            <a:r>
              <a:rPr lang="en-US" sz="358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Most users are NDF or US.</a:t>
            </a:r>
          </a:p>
          <a:p>
            <a:pPr algn="l">
              <a:lnSpc>
                <a:spcPts val="5021"/>
              </a:lnSpc>
            </a:pPr>
          </a:p>
          <a:p>
            <a:pPr algn="l" marL="829730" indent="-414865" lvl="1">
              <a:lnSpc>
                <a:spcPts val="5380"/>
              </a:lnSpc>
              <a:buFont typeface="Arial"/>
              <a:buChar char="•"/>
            </a:pPr>
            <a:r>
              <a:rPr lang="en-US" b="true" sz="384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2. Huge Session Data: </a:t>
            </a:r>
            <a:r>
              <a:rPr lang="en-US" sz="384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sessions.csv has over 10 million rows of web clicks.</a:t>
            </a:r>
            <a:r>
              <a:rPr lang="en-US" b="true" sz="384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 → </a:t>
            </a:r>
            <a:r>
              <a:rPr lang="en-US" b="true" sz="384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One</a:t>
            </a:r>
            <a:r>
              <a:rPr lang="en-US" b="true" sz="384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user can have thousands of rows.</a:t>
            </a:r>
          </a:p>
          <a:p>
            <a:pPr algn="l">
              <a:lnSpc>
                <a:spcPts val="5380"/>
              </a:lnSpc>
            </a:pPr>
          </a:p>
          <a:p>
            <a:pPr algn="l" marL="829730" indent="-414865" lvl="1">
              <a:lnSpc>
                <a:spcPts val="5380"/>
              </a:lnSpc>
              <a:buFont typeface="Arial"/>
              <a:buChar char="•"/>
            </a:pPr>
            <a:r>
              <a:rPr lang="en-US" b="true" sz="384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3. Risk of Target Leakage: </a:t>
            </a:r>
            <a:r>
              <a:rPr lang="en-US" sz="384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countries.csv has data about the final answer.</a:t>
            </a:r>
            <a:r>
              <a:rPr lang="en-US" b="true" sz="384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</a:p>
          <a:p>
            <a:pPr algn="l">
              <a:lnSpc>
                <a:spcPts val="5380"/>
              </a:lnSpc>
            </a:pPr>
          </a:p>
          <a:p>
            <a:pPr algn="l" marL="829730" indent="-414865" lvl="1">
              <a:lnSpc>
                <a:spcPts val="5380"/>
              </a:lnSpc>
              <a:buFont typeface="Arial"/>
              <a:buChar char="•"/>
            </a:pPr>
            <a:r>
              <a:rPr lang="en-US" b="true" sz="384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4. Illogical Data: </a:t>
            </a:r>
            <a:r>
              <a:rPr lang="en-US" sz="384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Some user data makes no sense (for example, Age = 2014 or Age = 150).</a:t>
            </a:r>
          </a:p>
          <a:p>
            <a:pPr algn="l">
              <a:lnSpc>
                <a:spcPts val="5380"/>
              </a:lnSpc>
            </a:pPr>
          </a:p>
        </p:txBody>
      </p:sp>
      <p:sp>
        <p:nvSpPr>
          <p:cNvPr name="AutoShape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14440494" y="0"/>
            <a:ext cx="3847506" cy="10287000"/>
          </a:xfrm>
          <a:prstGeom prst="rect">
            <a:avLst/>
          </a:prstGeom>
          <a:solidFill>
            <a:srgbClr val="7C987C"/>
          </a:solid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16139061" y="0"/>
            <a:ext cx="2148939" cy="10287000"/>
          </a:xfrm>
          <a:prstGeom prst="rect">
            <a:avLst/>
          </a:prstGeom>
          <a:solidFill>
            <a:srgbClr val="7C987C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3250" y="1718310"/>
            <a:ext cx="14015611" cy="8352495"/>
          </a:xfrm>
          <a:custGeom>
            <a:avLst/>
            <a:gdLst/>
            <a:ahLst/>
            <a:cxnLst/>
            <a:rect r="r" b="b" t="t" l="l"/>
            <a:pathLst>
              <a:path h="8352495" w="14015611">
                <a:moveTo>
                  <a:pt x="0" y="0"/>
                </a:moveTo>
                <a:lnTo>
                  <a:pt x="14015611" y="0"/>
                </a:lnTo>
                <a:lnTo>
                  <a:pt x="14015611" y="8352495"/>
                </a:lnTo>
                <a:lnTo>
                  <a:pt x="0" y="8352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65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3250" y="215265"/>
            <a:ext cx="14876654" cy="127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9"/>
              </a:lnSpc>
            </a:pPr>
            <a:r>
              <a:rPr lang="en-US" sz="7524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Pre_Cleaning EDA (train_user)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16139061" y="0"/>
            <a:ext cx="2148939" cy="10287000"/>
          </a:xfrm>
          <a:prstGeom prst="rect">
            <a:avLst/>
          </a:prstGeom>
          <a:solidFill>
            <a:srgbClr val="7C987C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77493" y="2157113"/>
            <a:ext cx="7406686" cy="5692809"/>
          </a:xfrm>
          <a:custGeom>
            <a:avLst/>
            <a:gdLst/>
            <a:ahLst/>
            <a:cxnLst/>
            <a:rect r="r" b="b" t="t" l="l"/>
            <a:pathLst>
              <a:path h="5692809" w="7406686">
                <a:moveTo>
                  <a:pt x="0" y="0"/>
                </a:moveTo>
                <a:lnTo>
                  <a:pt x="7406686" y="0"/>
                </a:lnTo>
                <a:lnTo>
                  <a:pt x="7406686" y="5692809"/>
                </a:lnTo>
                <a:lnTo>
                  <a:pt x="0" y="5692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3" t="0" r="-42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86396" y="2157113"/>
            <a:ext cx="7950449" cy="5972775"/>
          </a:xfrm>
          <a:custGeom>
            <a:avLst/>
            <a:gdLst/>
            <a:ahLst/>
            <a:cxnLst/>
            <a:rect r="r" b="b" t="t" l="l"/>
            <a:pathLst>
              <a:path h="5972775" w="7950449">
                <a:moveTo>
                  <a:pt x="0" y="0"/>
                </a:moveTo>
                <a:lnTo>
                  <a:pt x="7950448" y="0"/>
                </a:lnTo>
                <a:lnTo>
                  <a:pt x="7950448" y="5972774"/>
                </a:lnTo>
                <a:lnTo>
                  <a:pt x="0" y="597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3250" y="243840"/>
            <a:ext cx="1665028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9"/>
              </a:lnSpc>
            </a:pPr>
            <a:r>
              <a:rPr lang="en-US" sz="6724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EDA (Train Data &amp; Target Imbalance)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65909" y="8215620"/>
            <a:ext cx="561827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Age Outliers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21668" y="8215620"/>
            <a:ext cx="561827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Imbalance Target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1625" y="2013308"/>
            <a:ext cx="17724750" cy="7244992"/>
          </a:xfrm>
          <a:custGeom>
            <a:avLst/>
            <a:gdLst/>
            <a:ahLst/>
            <a:cxnLst/>
            <a:rect r="r" b="b" t="t" l="l"/>
            <a:pathLst>
              <a:path h="7244992" w="17724750">
                <a:moveTo>
                  <a:pt x="0" y="0"/>
                </a:moveTo>
                <a:lnTo>
                  <a:pt x="17724750" y="0"/>
                </a:lnTo>
                <a:lnTo>
                  <a:pt x="17724750" y="7244992"/>
                </a:lnTo>
                <a:lnTo>
                  <a:pt x="0" y="724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250" y="243840"/>
            <a:ext cx="1665028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9"/>
              </a:lnSpc>
            </a:pPr>
            <a:r>
              <a:rPr lang="en-US" sz="6724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EDA(Sessions)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16139061" y="0"/>
            <a:ext cx="2148939" cy="10287000"/>
          </a:xfrm>
          <a:prstGeom prst="rect">
            <a:avLst/>
          </a:prstGeom>
          <a:solidFill>
            <a:srgbClr val="7C987C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574097"/>
            <a:ext cx="13264138" cy="7875582"/>
          </a:xfrm>
          <a:custGeom>
            <a:avLst/>
            <a:gdLst/>
            <a:ahLst/>
            <a:cxnLst/>
            <a:rect r="r" b="b" t="t" l="l"/>
            <a:pathLst>
              <a:path h="7875582" w="13264138">
                <a:moveTo>
                  <a:pt x="0" y="0"/>
                </a:moveTo>
                <a:lnTo>
                  <a:pt x="13264138" y="0"/>
                </a:lnTo>
                <a:lnTo>
                  <a:pt x="13264138" y="7875581"/>
                </a:lnTo>
                <a:lnTo>
                  <a:pt x="0" y="7875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3250" y="243840"/>
            <a:ext cx="1665028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9"/>
              </a:lnSpc>
            </a:pPr>
            <a:r>
              <a:rPr lang="en-US" sz="6724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EDA (Sessions 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16139061" y="0"/>
            <a:ext cx="2148939" cy="10287000"/>
          </a:xfrm>
          <a:prstGeom prst="rect">
            <a:avLst/>
          </a:prstGeom>
          <a:solidFill>
            <a:srgbClr val="7C987C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00092" y="650539"/>
            <a:ext cx="1665028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9"/>
              </a:lnSpc>
            </a:pPr>
            <a:r>
              <a:rPr lang="en-US" sz="6724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Preparation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239235" y="1781987"/>
            <a:ext cx="16031650" cy="800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5945" indent="-487973" lvl="1">
              <a:lnSpc>
                <a:spcPts val="6328"/>
              </a:lnSpc>
              <a:buFont typeface="Arial"/>
              <a:buChar char="•"/>
            </a:pPr>
            <a:r>
              <a:rPr lang="en-US" b="true" sz="452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Step 1: Clean Sessions.</a:t>
            </a:r>
            <a:r>
              <a:rPr lang="en-US" b="true" sz="452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452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Dropped "ghost users" and filled silent actions.</a:t>
            </a:r>
          </a:p>
          <a:p>
            <a:pPr algn="l" marL="975945" indent="-487973" lvl="1">
              <a:lnSpc>
                <a:spcPts val="6328"/>
              </a:lnSpc>
              <a:buFont typeface="Arial"/>
              <a:buChar char="•"/>
            </a:pPr>
            <a:r>
              <a:rPr lang="en-US" b="true" sz="452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Step 2: Aggregate. </a:t>
            </a:r>
            <a:r>
              <a:rPr lang="en-US" sz="452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Grouped millions of clicks by user_id to extract features (total clicks, total seconds, unique actions).</a:t>
            </a:r>
          </a:p>
          <a:p>
            <a:pPr algn="l" marL="975945" indent="-487973" lvl="1">
              <a:lnSpc>
                <a:spcPts val="6328"/>
              </a:lnSpc>
              <a:buFont typeface="Arial"/>
              <a:buChar char="•"/>
            </a:pPr>
            <a:r>
              <a:rPr lang="en-US" b="true" sz="452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Step 3: The Merge</a:t>
            </a:r>
            <a:r>
              <a:rPr lang="en-US" b="true" sz="452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. </a:t>
            </a:r>
            <a:r>
              <a:rPr lang="en-US" sz="452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Joined these new session features perfectly into both the train and test datasets.</a:t>
            </a:r>
          </a:p>
          <a:p>
            <a:pPr algn="l" marL="975945" indent="-487973" lvl="1">
              <a:lnSpc>
                <a:spcPts val="6328"/>
              </a:lnSpc>
              <a:buFont typeface="Arial"/>
              <a:buChar char="•"/>
            </a:pPr>
            <a:r>
              <a:rPr lang="en-US" b="true" sz="452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Result: </a:t>
            </a:r>
            <a:r>
              <a:rPr lang="en-US" sz="452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Every user now has a complete profile in one single table</a:t>
            </a:r>
          </a:p>
          <a:p>
            <a:pPr algn="l">
              <a:lnSpc>
                <a:spcPts val="632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16139061" y="0"/>
            <a:ext cx="2148939" cy="10287000"/>
          </a:xfrm>
          <a:prstGeom prst="rect">
            <a:avLst/>
          </a:prstGeom>
          <a:solidFill>
            <a:srgbClr val="7C987C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00092" y="650539"/>
            <a:ext cx="1665028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9"/>
              </a:lnSpc>
            </a:pPr>
            <a:r>
              <a:rPr lang="en-US" sz="6724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Feature Engineering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261105" y="2167455"/>
            <a:ext cx="15673139" cy="5269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3"/>
              </a:lnSpc>
            </a:pPr>
          </a:p>
          <a:p>
            <a:pPr algn="l" marL="794749" indent="-397375" lvl="1">
              <a:lnSpc>
                <a:spcPts val="5153"/>
              </a:lnSpc>
              <a:buFont typeface="Arial"/>
              <a:buChar char="•"/>
            </a:pPr>
            <a:r>
              <a:rPr lang="en-US" b="true" sz="368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</a:t>
            </a:r>
            <a:r>
              <a:rPr lang="en-US" b="true" sz="368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 Extraction: </a:t>
            </a:r>
            <a:r>
              <a:rPr lang="en-US" sz="368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Split date_account_created into three new columns: Year, Month, and Day.</a:t>
            </a:r>
          </a:p>
          <a:p>
            <a:pPr algn="l" marL="794749" indent="-397375" lvl="1">
              <a:lnSpc>
                <a:spcPts val="5153"/>
              </a:lnSpc>
              <a:buFont typeface="Arial"/>
              <a:buChar char="•"/>
            </a:pPr>
            <a:r>
              <a:rPr lang="en-US" b="true" sz="368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Type Casting</a:t>
            </a:r>
            <a:r>
              <a:rPr lang="en-US" b="true" sz="368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: </a:t>
            </a:r>
            <a:r>
              <a:rPr lang="en-US" sz="368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Changed</a:t>
            </a:r>
            <a:r>
              <a:rPr lang="en-US" sz="368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b="true" sz="368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signup_flow </a:t>
            </a:r>
            <a:r>
              <a:rPr lang="en-US" sz="368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from an integer to a String (Categorical).</a:t>
            </a:r>
          </a:p>
          <a:p>
            <a:pPr algn="l" marL="794749" indent="-397375" lvl="1">
              <a:lnSpc>
                <a:spcPts val="5153"/>
              </a:lnSpc>
              <a:buFont typeface="Arial"/>
              <a:buChar char="•"/>
            </a:pPr>
            <a:r>
              <a:rPr lang="en-US" b="true" sz="368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Encoding (OHE)</a:t>
            </a:r>
            <a:r>
              <a:rPr lang="en-US" b="true" sz="368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: </a:t>
            </a:r>
            <a:r>
              <a:rPr lang="en-US" sz="368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Converted text categories into numbers so the AI can read them.</a:t>
            </a:r>
          </a:p>
          <a:p>
            <a:pPr algn="l">
              <a:lnSpc>
                <a:spcPts val="5153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1874" y="2494533"/>
            <a:ext cx="18709874" cy="6548456"/>
          </a:xfrm>
          <a:custGeom>
            <a:avLst/>
            <a:gdLst/>
            <a:ahLst/>
            <a:cxnLst/>
            <a:rect r="r" b="b" t="t" l="l"/>
            <a:pathLst>
              <a:path h="6548456" w="18709874">
                <a:moveTo>
                  <a:pt x="0" y="0"/>
                </a:moveTo>
                <a:lnTo>
                  <a:pt x="18709874" y="0"/>
                </a:lnTo>
                <a:lnTo>
                  <a:pt x="18709874" y="6548456"/>
                </a:lnTo>
                <a:lnTo>
                  <a:pt x="0" y="6548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0092" y="650539"/>
            <a:ext cx="1665028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9"/>
              </a:lnSpc>
            </a:pPr>
            <a:r>
              <a:rPr lang="en-US" sz="6724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Modeling Approach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4015" y="124223"/>
            <a:ext cx="1665028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9"/>
              </a:lnSpc>
            </a:pPr>
            <a:r>
              <a:rPr lang="en-US" sz="6724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Evaluation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238954" y="576660"/>
            <a:ext cx="18335566" cy="9958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8"/>
              </a:lnSpc>
            </a:pPr>
          </a:p>
          <a:p>
            <a:pPr algn="l" marL="929756" indent="-464878" lvl="1">
              <a:lnSpc>
                <a:spcPts val="6028"/>
              </a:lnSpc>
              <a:buFont typeface="Arial"/>
              <a:buChar char="•"/>
            </a:pPr>
            <a:r>
              <a:rPr lang="en-US" b="true" sz="430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XGBoos</a:t>
            </a:r>
            <a:r>
              <a:rPr lang="en-US" b="true" sz="430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sz="430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is currently the best chosen model. </a:t>
            </a:r>
          </a:p>
          <a:p>
            <a:pPr algn="l" marL="929756" indent="-464878" lvl="1">
              <a:lnSpc>
                <a:spcPts val="6028"/>
              </a:lnSpc>
              <a:buFont typeface="Arial"/>
              <a:buChar char="•"/>
            </a:pPr>
            <a:r>
              <a:rPr lang="en-US" b="true" sz="4306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Key Features: </a:t>
            </a:r>
          </a:p>
          <a:p>
            <a:pPr algn="l" marL="757040" indent="-378520" lvl="1">
              <a:lnSpc>
                <a:spcPts val="4909"/>
              </a:lnSpc>
              <a:buFont typeface="Arial"/>
              <a:buChar char="•"/>
            </a:pPr>
            <a:r>
              <a:rPr lang="en-US" b="true" sz="3506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1. Speed and Performance:  </a:t>
            </a:r>
            <a:r>
              <a:rPr lang="en-US" sz="3506" u="non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XGBoost is very fast. Using Optuna helped us automatically find the fastest and smartest settings.</a:t>
            </a:r>
          </a:p>
          <a:p>
            <a:pPr algn="l">
              <a:lnSpc>
                <a:spcPts val="4909"/>
              </a:lnSpc>
            </a:pPr>
          </a:p>
          <a:p>
            <a:pPr algn="l" marL="757040" indent="-378520" lvl="1">
              <a:lnSpc>
                <a:spcPts val="4909"/>
              </a:lnSpc>
              <a:buFont typeface="Arial"/>
              <a:buChar char="•"/>
            </a:pPr>
            <a:r>
              <a:rPr lang="en-US" b="true" sz="3506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2. Efficiency with Large Datasets:</a:t>
            </a:r>
            <a:r>
              <a:rPr lang="en-US" sz="3506" u="non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It easily handled the complex features we extracted from the 10 million session rows.</a:t>
            </a:r>
          </a:p>
          <a:p>
            <a:pPr algn="l">
              <a:lnSpc>
                <a:spcPts val="4909"/>
              </a:lnSpc>
            </a:pPr>
          </a:p>
          <a:p>
            <a:pPr algn="l" marL="778629" indent="-389315" lvl="1">
              <a:lnSpc>
                <a:spcPts val="5049"/>
              </a:lnSpc>
              <a:buFont typeface="Arial"/>
              <a:buChar char="•"/>
            </a:pPr>
            <a:r>
              <a:rPr lang="en-US" b="true" sz="3606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3. Accuracy &amp; Stability: </a:t>
            </a:r>
            <a:r>
              <a:rPr lang="en-US" sz="3606" u="non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Using Stratified K-Fold stopped the model from overfitting.</a:t>
            </a:r>
          </a:p>
          <a:p>
            <a:pPr algn="l">
              <a:lnSpc>
                <a:spcPts val="5049"/>
              </a:lnSpc>
            </a:pPr>
          </a:p>
          <a:p>
            <a:pPr algn="l" marL="757040" indent="-378520" lvl="1">
              <a:lnSpc>
                <a:spcPts val="4909"/>
              </a:lnSpc>
              <a:buFont typeface="Arial"/>
              <a:buChar char="•"/>
            </a:pPr>
            <a:r>
              <a:rPr lang="en-US" b="true" sz="3506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4. Business Focused: </a:t>
            </a:r>
            <a:r>
              <a:rPr lang="en-US" sz="3506" u="non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use NDCG@5. This is perfect for the business because it gives the marketing team the Top 5 best country recommendations for every user.</a:t>
            </a:r>
          </a:p>
          <a:p>
            <a:pPr algn="l">
              <a:lnSpc>
                <a:spcPts val="6028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4015" y="2220338"/>
            <a:ext cx="8819985" cy="5554782"/>
          </a:xfrm>
          <a:custGeom>
            <a:avLst/>
            <a:gdLst/>
            <a:ahLst/>
            <a:cxnLst/>
            <a:rect r="r" b="b" t="t" l="l"/>
            <a:pathLst>
              <a:path h="5554782" w="8819985">
                <a:moveTo>
                  <a:pt x="0" y="0"/>
                </a:moveTo>
                <a:lnTo>
                  <a:pt x="8819985" y="0"/>
                </a:lnTo>
                <a:lnTo>
                  <a:pt x="8819985" y="5554781"/>
                </a:lnTo>
                <a:lnTo>
                  <a:pt x="0" y="5554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5" r="0" b="-11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4015" y="124223"/>
            <a:ext cx="1822923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9"/>
              </a:lnSpc>
            </a:pPr>
            <a:r>
              <a:rPr lang="en-US" sz="6724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Business Insights (Marketing &amp; Ad Spend)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438630" y="2220338"/>
            <a:ext cx="8562284" cy="5554782"/>
          </a:xfrm>
          <a:custGeom>
            <a:avLst/>
            <a:gdLst/>
            <a:ahLst/>
            <a:cxnLst/>
            <a:rect r="r" b="b" t="t" l="l"/>
            <a:pathLst>
              <a:path h="5554782" w="8562284">
                <a:moveTo>
                  <a:pt x="0" y="0"/>
                </a:moveTo>
                <a:lnTo>
                  <a:pt x="8562284" y="0"/>
                </a:lnTo>
                <a:lnTo>
                  <a:pt x="8562284" y="5554781"/>
                </a:lnTo>
                <a:lnTo>
                  <a:pt x="0" y="5554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6413" y="2120063"/>
            <a:ext cx="6023756" cy="6120913"/>
          </a:xfrm>
          <a:custGeom>
            <a:avLst/>
            <a:gdLst/>
            <a:ahLst/>
            <a:cxnLst/>
            <a:rect r="r" b="b" t="t" l="l"/>
            <a:pathLst>
              <a:path h="6120913" w="6023756">
                <a:moveTo>
                  <a:pt x="0" y="0"/>
                </a:moveTo>
                <a:lnTo>
                  <a:pt x="6023755" y="0"/>
                </a:lnTo>
                <a:lnTo>
                  <a:pt x="6023755" y="6120913"/>
                </a:lnTo>
                <a:lnTo>
                  <a:pt x="0" y="61209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62195" y="2120063"/>
            <a:ext cx="10007314" cy="5316386"/>
          </a:xfrm>
          <a:custGeom>
            <a:avLst/>
            <a:gdLst/>
            <a:ahLst/>
            <a:cxnLst/>
            <a:rect r="r" b="b" t="t" l="l"/>
            <a:pathLst>
              <a:path h="5316386" w="10007314">
                <a:moveTo>
                  <a:pt x="0" y="0"/>
                </a:moveTo>
                <a:lnTo>
                  <a:pt x="10007314" y="0"/>
                </a:lnTo>
                <a:lnTo>
                  <a:pt x="10007314" y="5316386"/>
                </a:lnTo>
                <a:lnTo>
                  <a:pt x="0" y="5316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4015" y="124223"/>
            <a:ext cx="1822923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9"/>
              </a:lnSpc>
            </a:pPr>
            <a:r>
              <a:rPr lang="en-US" sz="6724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Business Insights ( UX &amp; Demographics)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7C98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3158" y="2766999"/>
            <a:ext cx="13893328" cy="5670319"/>
            <a:chOff x="0" y="0"/>
            <a:chExt cx="18524437" cy="756042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47625"/>
              <a:ext cx="18524437" cy="2178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583"/>
                </a:lnSpc>
              </a:pPr>
              <a:r>
                <a:rPr lang="en-US" sz="10530" b="true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Thank You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70308"/>
              <a:ext cx="16993335" cy="790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47"/>
                </a:lnSpc>
              </a:pPr>
            </a:p>
          </p:txBody>
        </p:sp>
      </p:grpSp>
      <p:sp>
        <p:nvSpPr>
          <p:cNvPr name="AutoShape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852846" y="0"/>
            <a:ext cx="0" cy="1028700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709506" y="5106026"/>
            <a:ext cx="9391260" cy="83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8"/>
              </a:lnSpc>
            </a:pPr>
            <a:r>
              <a:rPr lang="en-US" sz="4434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presented by :Adam Mohamed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DAHGFV2zNTU</dc:identifier>
  <dcterms:modified xsi:type="dcterms:W3CDTF">2011-08-01T06:04:30Z</dcterms:modified>
  <cp:revision>1</cp:revision>
  <dc:title>Olive Green White Simple and Minimal Business Case Study and Report Business Presentation</dc:title>
</cp:coreProperties>
</file>